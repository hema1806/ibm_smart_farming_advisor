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70" r:id="rId8"/>
    <p:sldId id="263" r:id="rId9"/>
    <p:sldId id="264" r:id="rId10"/>
    <p:sldId id="271" r:id="rId11"/>
    <p:sldId id="275" r:id="rId12"/>
    <p:sldId id="274" r:id="rId13"/>
    <p:sldId id="276" r:id="rId14"/>
    <p:sldId id="277" r:id="rId15"/>
    <p:sldId id="273" r:id="rId16"/>
    <p:sldId id="278" r:id="rId17"/>
    <p:sldId id="279" r:id="rId18"/>
    <p:sldId id="280" r:id="rId19"/>
    <p:sldId id="281" r:id="rId20"/>
    <p:sldId id="282" r:id="rId21"/>
    <p:sldId id="28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57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7/13/2026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7/13/2026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7/13/2026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5C76-4BA5-0EFF-0C94-5BC900CEF79D}"/>
              </a:ext>
            </a:extLst>
          </p:cNvPr>
          <p:cNvSpPr>
            <a:spLocks noGrp="1"/>
          </p:cNvSpPr>
          <p:nvPr>
            <p:ph type="ctrTitle"/>
          </p:nvPr>
        </p:nvSpPr>
        <p:spPr>
          <a:xfrm>
            <a:off x="1381125" y="514351"/>
            <a:ext cx="8991600" cy="3682007"/>
          </a:xfrm>
        </p:spPr>
        <p:txBody>
          <a:bodyPr/>
          <a:lstStyle/>
          <a:p>
            <a:r>
              <a:rPr lang="en-IN" sz="3200" b="1" dirty="0"/>
              <a:t>AI-Powered Smart Farming Advisor using IBM </a:t>
            </a:r>
            <a:r>
              <a:rPr lang="en-IN" sz="3200" b="1" dirty="0" err="1"/>
              <a:t>watsonx</a:t>
            </a:r>
            <a:r>
              <a:rPr lang="en-IN" sz="3200" b="1" dirty="0"/>
              <a:t> Orchestrate</a:t>
            </a:r>
            <a:br>
              <a:rPr lang="en-IN" sz="3200" dirty="0"/>
            </a:br>
            <a:br>
              <a:rPr lang="en-IN" sz="3400" b="1" dirty="0"/>
            </a:br>
            <a:br>
              <a:rPr lang="en-IN" sz="3400" b="1" dirty="0"/>
            </a:br>
            <a:r>
              <a:rPr lang="en-IN" sz="2800" b="1" dirty="0"/>
              <a:t>IBM </a:t>
            </a:r>
            <a:r>
              <a:rPr lang="en-IN" sz="2800" b="1" dirty="0" err="1"/>
              <a:t>SkillsBuild</a:t>
            </a:r>
            <a:r>
              <a:rPr lang="en-IN" sz="2800" b="1" dirty="0"/>
              <a:t> – University Engagement Program</a:t>
            </a:r>
            <a:br>
              <a:rPr lang="en-IN" dirty="0"/>
            </a:br>
            <a:endParaRPr lang="en-IN" dirty="0"/>
          </a:p>
        </p:txBody>
      </p:sp>
      <p:sp>
        <p:nvSpPr>
          <p:cNvPr id="3" name="Subtitle 2">
            <a:extLst>
              <a:ext uri="{FF2B5EF4-FFF2-40B4-BE49-F238E27FC236}">
                <a16:creationId xmlns:a16="http://schemas.microsoft.com/office/drawing/2014/main" id="{24B70F4D-86B0-5821-62A1-A2AAEFDE18A4}"/>
              </a:ext>
            </a:extLst>
          </p:cNvPr>
          <p:cNvSpPr>
            <a:spLocks noGrp="1"/>
          </p:cNvSpPr>
          <p:nvPr>
            <p:ph type="subTitle" idx="1"/>
          </p:nvPr>
        </p:nvSpPr>
        <p:spPr>
          <a:xfrm>
            <a:off x="1381125" y="3596279"/>
            <a:ext cx="9151938" cy="2585445"/>
          </a:xfrm>
        </p:spPr>
        <p:txBody>
          <a:bodyPr>
            <a:normAutofit fontScale="25000" lnSpcReduction="20000"/>
          </a:bodyPr>
          <a:lstStyle/>
          <a:p>
            <a:r>
              <a:rPr lang="en-IN" sz="11200" b="1" dirty="0"/>
              <a:t>Domain:</a:t>
            </a:r>
            <a:r>
              <a:rPr lang="en-IN" sz="11200" dirty="0"/>
              <a:t> Agriculture</a:t>
            </a:r>
          </a:p>
          <a:p>
            <a:r>
              <a:rPr lang="en-IN" sz="8000" b="1" dirty="0"/>
              <a:t>Submitted By:</a:t>
            </a:r>
            <a:endParaRPr lang="en-IN" sz="8000" dirty="0"/>
          </a:p>
          <a:p>
            <a:r>
              <a:rPr lang="en-IN" sz="8000" dirty="0"/>
              <a:t>Name: N. Hemasri</a:t>
            </a:r>
          </a:p>
          <a:p>
            <a:r>
              <a:rPr lang="en-IN" sz="8000" dirty="0"/>
              <a:t>Roll Number: CB.SC.U4AIE24335</a:t>
            </a:r>
          </a:p>
          <a:p>
            <a:r>
              <a:rPr lang="en-IN" sz="8000" dirty="0"/>
              <a:t>College: Amrita VISHWA VIDHYAPEETHAM</a:t>
            </a:r>
          </a:p>
          <a:p>
            <a:r>
              <a:rPr lang="en-IN" sz="8000" dirty="0"/>
              <a:t>Department: AIML</a:t>
            </a:r>
          </a:p>
          <a:p>
            <a:endParaRPr lang="en-IN" sz="8000" dirty="0"/>
          </a:p>
          <a:p>
            <a:endParaRPr lang="en-IN" dirty="0"/>
          </a:p>
        </p:txBody>
      </p:sp>
    </p:spTree>
    <p:extLst>
      <p:ext uri="{BB962C8B-B14F-4D97-AF65-F5344CB8AC3E}">
        <p14:creationId xmlns:p14="http://schemas.microsoft.com/office/powerpoint/2010/main" val="166572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AA3C6-D517-D3D6-F11A-CFF240C4089F}"/>
              </a:ext>
            </a:extLst>
          </p:cNvPr>
          <p:cNvSpPr>
            <a:spLocks noGrp="1"/>
          </p:cNvSpPr>
          <p:nvPr>
            <p:ph type="title"/>
          </p:nvPr>
        </p:nvSpPr>
        <p:spPr>
          <a:xfrm>
            <a:off x="4298205" y="954618"/>
            <a:ext cx="3093196" cy="706964"/>
          </a:xfrm>
        </p:spPr>
        <p:txBody>
          <a:bodyPr/>
          <a:lstStyle/>
          <a:p>
            <a:r>
              <a:rPr lang="en-IN" dirty="0"/>
              <a:t>Introduction</a:t>
            </a:r>
          </a:p>
        </p:txBody>
      </p:sp>
      <p:sp>
        <p:nvSpPr>
          <p:cNvPr id="3" name="Content Placeholder 2">
            <a:extLst>
              <a:ext uri="{FF2B5EF4-FFF2-40B4-BE49-F238E27FC236}">
                <a16:creationId xmlns:a16="http://schemas.microsoft.com/office/drawing/2014/main" id="{DF4A506D-DFC6-0C02-53B8-F1191956DE74}"/>
              </a:ext>
            </a:extLst>
          </p:cNvPr>
          <p:cNvSpPr>
            <a:spLocks noGrp="1"/>
          </p:cNvSpPr>
          <p:nvPr>
            <p:ph idx="1"/>
          </p:nvPr>
        </p:nvSpPr>
        <p:spPr>
          <a:xfrm>
            <a:off x="2077664" y="2828924"/>
            <a:ext cx="8036671" cy="3228975"/>
          </a:xfrm>
        </p:spPr>
        <p:txBody>
          <a:bodyPr/>
          <a:lstStyle/>
          <a:p>
            <a:r>
              <a:rPr lang="en-IN" dirty="0"/>
              <a:t>Agriculture plays a vital role in ensuring food security and economic growth. Farmers often need timely advice regarding crop selection, fertilizer usage, irrigation, and pest management. The Smart Farming Advisor uses IBM </a:t>
            </a:r>
            <a:r>
              <a:rPr lang="en-IN" dirty="0" err="1"/>
              <a:t>watsonx</a:t>
            </a:r>
            <a:r>
              <a:rPr lang="en-IN" dirty="0"/>
              <a:t> Orchestrate to provide intelligent agricultural recommendations through natural language conversations.</a:t>
            </a:r>
          </a:p>
          <a:p>
            <a:endParaRPr lang="en-IN" dirty="0"/>
          </a:p>
        </p:txBody>
      </p:sp>
    </p:spTree>
    <p:extLst>
      <p:ext uri="{BB962C8B-B14F-4D97-AF65-F5344CB8AC3E}">
        <p14:creationId xmlns:p14="http://schemas.microsoft.com/office/powerpoint/2010/main" val="976166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E1EE-AED0-3DF1-2AD9-A27FAA3825BA}"/>
              </a:ext>
            </a:extLst>
          </p:cNvPr>
          <p:cNvSpPr>
            <a:spLocks noGrp="1"/>
          </p:cNvSpPr>
          <p:nvPr>
            <p:ph type="title"/>
          </p:nvPr>
        </p:nvSpPr>
        <p:spPr>
          <a:xfrm>
            <a:off x="3536205" y="838200"/>
            <a:ext cx="4712446" cy="706964"/>
          </a:xfrm>
        </p:spPr>
        <p:txBody>
          <a:bodyPr/>
          <a:lstStyle/>
          <a:p>
            <a:r>
              <a:rPr lang="en-IN" dirty="0"/>
              <a:t>Problem Statement</a:t>
            </a:r>
          </a:p>
        </p:txBody>
      </p:sp>
      <p:sp>
        <p:nvSpPr>
          <p:cNvPr id="3" name="Content Placeholder 2">
            <a:extLst>
              <a:ext uri="{FF2B5EF4-FFF2-40B4-BE49-F238E27FC236}">
                <a16:creationId xmlns:a16="http://schemas.microsoft.com/office/drawing/2014/main" id="{E0DB3B39-CED9-DA1A-B3F9-1CA5DD757B1E}"/>
              </a:ext>
            </a:extLst>
          </p:cNvPr>
          <p:cNvSpPr>
            <a:spLocks noGrp="1"/>
          </p:cNvSpPr>
          <p:nvPr>
            <p:ph idx="1"/>
          </p:nvPr>
        </p:nvSpPr>
        <p:spPr>
          <a:xfrm>
            <a:off x="1683170" y="2832100"/>
            <a:ext cx="8825659" cy="3416300"/>
          </a:xfrm>
        </p:spPr>
        <p:txBody>
          <a:bodyPr/>
          <a:lstStyle/>
          <a:p>
            <a:r>
              <a:rPr lang="en-IN" dirty="0"/>
              <a:t>Farmers often face challenges in:</a:t>
            </a:r>
          </a:p>
          <a:p>
            <a:r>
              <a:rPr lang="en-IN" dirty="0"/>
              <a:t>Selecting suitable crops. </a:t>
            </a:r>
          </a:p>
          <a:p>
            <a:r>
              <a:rPr lang="en-IN" dirty="0"/>
              <a:t>Applying fertilizers correctly. </a:t>
            </a:r>
          </a:p>
          <a:p>
            <a:r>
              <a:rPr lang="en-IN" dirty="0"/>
              <a:t>Managing irrigation efficiently. </a:t>
            </a:r>
          </a:p>
          <a:p>
            <a:r>
              <a:rPr lang="en-IN" dirty="0"/>
              <a:t>Controlling pests and diseases. </a:t>
            </a:r>
          </a:p>
          <a:p>
            <a:r>
              <a:rPr lang="en-IN" dirty="0"/>
              <a:t>Accessing expert agricultural guidance. </a:t>
            </a:r>
          </a:p>
          <a:p>
            <a:r>
              <a:rPr lang="en-IN" dirty="0"/>
              <a:t>An AI-powered farming assistant can provide personalized recommendations to improve productivity and sustainability.</a:t>
            </a:r>
          </a:p>
          <a:p>
            <a:pPr marL="0" indent="0">
              <a:buNone/>
            </a:pPr>
            <a:endParaRPr lang="en-IN" dirty="0"/>
          </a:p>
        </p:txBody>
      </p:sp>
    </p:spTree>
    <p:extLst>
      <p:ext uri="{BB962C8B-B14F-4D97-AF65-F5344CB8AC3E}">
        <p14:creationId xmlns:p14="http://schemas.microsoft.com/office/powerpoint/2010/main" val="1925536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A33B-4648-1E40-1031-B3C9F98CFD23}"/>
              </a:ext>
            </a:extLst>
          </p:cNvPr>
          <p:cNvSpPr>
            <a:spLocks noGrp="1"/>
          </p:cNvSpPr>
          <p:nvPr>
            <p:ph type="title"/>
          </p:nvPr>
        </p:nvSpPr>
        <p:spPr>
          <a:xfrm>
            <a:off x="4069604" y="906993"/>
            <a:ext cx="2721721" cy="706964"/>
          </a:xfrm>
        </p:spPr>
        <p:txBody>
          <a:bodyPr/>
          <a:lstStyle/>
          <a:p>
            <a:r>
              <a:rPr lang="en-IN" dirty="0"/>
              <a:t>Objectives</a:t>
            </a:r>
          </a:p>
        </p:txBody>
      </p:sp>
      <p:sp>
        <p:nvSpPr>
          <p:cNvPr id="3" name="Content Placeholder 2">
            <a:extLst>
              <a:ext uri="{FF2B5EF4-FFF2-40B4-BE49-F238E27FC236}">
                <a16:creationId xmlns:a16="http://schemas.microsoft.com/office/drawing/2014/main" id="{AE838E94-3F90-09D2-57AF-FC15C5A1B257}"/>
              </a:ext>
            </a:extLst>
          </p:cNvPr>
          <p:cNvSpPr>
            <a:spLocks noGrp="1"/>
          </p:cNvSpPr>
          <p:nvPr>
            <p:ph idx="1"/>
          </p:nvPr>
        </p:nvSpPr>
        <p:spPr>
          <a:xfrm>
            <a:off x="1802654" y="3169711"/>
            <a:ext cx="8825659" cy="1235075"/>
          </a:xfrm>
        </p:spPr>
        <p:txBody>
          <a:bodyPr/>
          <a:lstStyle/>
          <a:p>
            <a:pPr marL="0" indent="0">
              <a:buNone/>
            </a:pPr>
            <a:r>
              <a:rPr lang="en-IN" dirty="0"/>
              <a:t>Build an AI-powered farming assistant. Recommend crops. Suggest fertilizers. Provide irrigation advice. Assist in pest and disease management. Promote sustainable agriculture.</a:t>
            </a:r>
          </a:p>
        </p:txBody>
      </p:sp>
    </p:spTree>
    <p:extLst>
      <p:ext uri="{BB962C8B-B14F-4D97-AF65-F5344CB8AC3E}">
        <p14:creationId xmlns:p14="http://schemas.microsoft.com/office/powerpoint/2010/main" val="1733737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1F566-1174-7FAA-A32F-D9186F10A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CD906-F07B-72DC-F946-A660495E1974}"/>
              </a:ext>
            </a:extLst>
          </p:cNvPr>
          <p:cNvSpPr>
            <a:spLocks noGrp="1"/>
          </p:cNvSpPr>
          <p:nvPr>
            <p:ph type="title"/>
          </p:nvPr>
        </p:nvSpPr>
        <p:spPr>
          <a:xfrm>
            <a:off x="3421110" y="964143"/>
            <a:ext cx="4293346" cy="706964"/>
          </a:xfrm>
        </p:spPr>
        <p:txBody>
          <a:bodyPr/>
          <a:lstStyle/>
          <a:p>
            <a:r>
              <a:rPr lang="en-IN" dirty="0"/>
              <a:t>Proposed Solution</a:t>
            </a:r>
          </a:p>
        </p:txBody>
      </p:sp>
      <p:sp>
        <p:nvSpPr>
          <p:cNvPr id="3" name="Content Placeholder 2">
            <a:extLst>
              <a:ext uri="{FF2B5EF4-FFF2-40B4-BE49-F238E27FC236}">
                <a16:creationId xmlns:a16="http://schemas.microsoft.com/office/drawing/2014/main" id="{F7CF7432-02F2-B75E-520A-829FB9DF3C1E}"/>
              </a:ext>
            </a:extLst>
          </p:cNvPr>
          <p:cNvSpPr>
            <a:spLocks noGrp="1"/>
          </p:cNvSpPr>
          <p:nvPr>
            <p:ph idx="1"/>
          </p:nvPr>
        </p:nvSpPr>
        <p:spPr>
          <a:xfrm>
            <a:off x="1564529" y="2603500"/>
            <a:ext cx="8825659" cy="3416300"/>
          </a:xfrm>
        </p:spPr>
        <p:txBody>
          <a:bodyPr/>
          <a:lstStyle/>
          <a:p>
            <a:r>
              <a:rPr lang="en-IN" dirty="0"/>
              <a:t>The Smart Farming Advisor is an AI-powered conversational assistant that:</a:t>
            </a:r>
          </a:p>
          <a:p>
            <a:r>
              <a:rPr lang="en-IN" dirty="0"/>
              <a:t>Understands farmer queries. </a:t>
            </a:r>
          </a:p>
          <a:p>
            <a:r>
              <a:rPr lang="en-IN" dirty="0"/>
              <a:t>Retrieves agricultural knowledge. </a:t>
            </a:r>
          </a:p>
          <a:p>
            <a:r>
              <a:rPr lang="en-IN" dirty="0"/>
              <a:t>Generates personalized farming recommendations. </a:t>
            </a:r>
          </a:p>
          <a:p>
            <a:r>
              <a:rPr lang="en-IN" dirty="0"/>
              <a:t>Supports sustainable farming practices.</a:t>
            </a:r>
          </a:p>
          <a:p>
            <a:endParaRPr lang="en-IN" dirty="0"/>
          </a:p>
        </p:txBody>
      </p:sp>
    </p:spTree>
    <p:extLst>
      <p:ext uri="{BB962C8B-B14F-4D97-AF65-F5344CB8AC3E}">
        <p14:creationId xmlns:p14="http://schemas.microsoft.com/office/powerpoint/2010/main" val="1376125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7EEBC-88DE-C01B-1706-E71E77053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7B8E5-9438-EBF8-2FCF-7C5E88C54A89}"/>
              </a:ext>
            </a:extLst>
          </p:cNvPr>
          <p:cNvSpPr>
            <a:spLocks noGrp="1"/>
          </p:cNvSpPr>
          <p:nvPr>
            <p:ph type="title"/>
          </p:nvPr>
        </p:nvSpPr>
        <p:spPr>
          <a:xfrm>
            <a:off x="3402855" y="838200"/>
            <a:ext cx="4540996" cy="706964"/>
          </a:xfrm>
        </p:spPr>
        <p:txBody>
          <a:bodyPr/>
          <a:lstStyle/>
          <a:p>
            <a:r>
              <a:rPr lang="en-IN" dirty="0"/>
              <a:t>Technologies Used</a:t>
            </a:r>
          </a:p>
        </p:txBody>
      </p:sp>
      <p:graphicFrame>
        <p:nvGraphicFramePr>
          <p:cNvPr id="4" name="Content Placeholder 3">
            <a:extLst>
              <a:ext uri="{FF2B5EF4-FFF2-40B4-BE49-F238E27FC236}">
                <a16:creationId xmlns:a16="http://schemas.microsoft.com/office/drawing/2014/main" id="{2ECBA2BE-2FA2-2D49-65F4-75830392BBEC}"/>
              </a:ext>
            </a:extLst>
          </p:cNvPr>
          <p:cNvGraphicFramePr>
            <a:graphicFrameLocks noGrp="1"/>
          </p:cNvGraphicFramePr>
          <p:nvPr>
            <p:ph idx="1"/>
            <p:extLst>
              <p:ext uri="{D42A27DB-BD31-4B8C-83A1-F6EECF244321}">
                <p14:modId xmlns:p14="http://schemas.microsoft.com/office/powerpoint/2010/main" val="1406032658"/>
              </p:ext>
            </p:extLst>
          </p:nvPr>
        </p:nvGraphicFramePr>
        <p:xfrm>
          <a:off x="1825624" y="2964815"/>
          <a:ext cx="8761414" cy="2286000"/>
        </p:xfrm>
        <a:graphic>
          <a:graphicData uri="http://schemas.openxmlformats.org/drawingml/2006/table">
            <a:tbl>
              <a:tblPr>
                <a:tableStyleId>{08FB837D-C827-4EFA-A057-4D05807E0F7C}</a:tableStyleId>
              </a:tblPr>
              <a:tblGrid>
                <a:gridCol w="4380707">
                  <a:extLst>
                    <a:ext uri="{9D8B030D-6E8A-4147-A177-3AD203B41FA5}">
                      <a16:colId xmlns:a16="http://schemas.microsoft.com/office/drawing/2014/main" val="2050884873"/>
                    </a:ext>
                  </a:extLst>
                </a:gridCol>
                <a:gridCol w="4380707">
                  <a:extLst>
                    <a:ext uri="{9D8B030D-6E8A-4147-A177-3AD203B41FA5}">
                      <a16:colId xmlns:a16="http://schemas.microsoft.com/office/drawing/2014/main" val="2060301153"/>
                    </a:ext>
                  </a:extLst>
                </a:gridCol>
              </a:tblGrid>
              <a:tr h="0">
                <a:tc>
                  <a:txBody>
                    <a:bodyPr/>
                    <a:lstStyle/>
                    <a:p>
                      <a:pPr>
                        <a:buNone/>
                      </a:pPr>
                      <a:r>
                        <a:rPr lang="en-IN" sz="2400" b="1" i="0"/>
                        <a:t>Technology</a:t>
                      </a:r>
                    </a:p>
                  </a:txBody>
                  <a:tcPr anchor="ctr"/>
                </a:tc>
                <a:tc>
                  <a:txBody>
                    <a:bodyPr/>
                    <a:lstStyle/>
                    <a:p>
                      <a:pPr>
                        <a:buNone/>
                      </a:pPr>
                      <a:r>
                        <a:rPr lang="en-IN" sz="2400" b="1" i="0" dirty="0"/>
                        <a:t>Purpose</a:t>
                      </a:r>
                    </a:p>
                  </a:txBody>
                  <a:tcPr anchor="ctr"/>
                </a:tc>
                <a:extLst>
                  <a:ext uri="{0D108BD9-81ED-4DB2-BD59-A6C34878D82A}">
                    <a16:rowId xmlns:a16="http://schemas.microsoft.com/office/drawing/2014/main" val="2774979662"/>
                  </a:ext>
                </a:extLst>
              </a:tr>
              <a:tr h="0">
                <a:tc>
                  <a:txBody>
                    <a:bodyPr/>
                    <a:lstStyle/>
                    <a:p>
                      <a:pPr>
                        <a:buNone/>
                      </a:pPr>
                      <a:r>
                        <a:rPr lang="en-IN"/>
                        <a:t>IBM Cloud</a:t>
                      </a:r>
                    </a:p>
                  </a:txBody>
                  <a:tcPr anchor="ctr"/>
                </a:tc>
                <a:tc>
                  <a:txBody>
                    <a:bodyPr/>
                    <a:lstStyle/>
                    <a:p>
                      <a:pPr>
                        <a:buNone/>
                      </a:pPr>
                      <a:r>
                        <a:rPr lang="en-IN"/>
                        <a:t>Cloud Platform</a:t>
                      </a:r>
                    </a:p>
                  </a:txBody>
                  <a:tcPr anchor="ctr"/>
                </a:tc>
                <a:extLst>
                  <a:ext uri="{0D108BD9-81ED-4DB2-BD59-A6C34878D82A}">
                    <a16:rowId xmlns:a16="http://schemas.microsoft.com/office/drawing/2014/main" val="1500997999"/>
                  </a:ext>
                </a:extLst>
              </a:tr>
              <a:tr h="0">
                <a:tc>
                  <a:txBody>
                    <a:bodyPr/>
                    <a:lstStyle/>
                    <a:p>
                      <a:pPr>
                        <a:buNone/>
                      </a:pPr>
                      <a:r>
                        <a:rPr lang="en-IN"/>
                        <a:t>IBM watsonx Orchestrate</a:t>
                      </a:r>
                    </a:p>
                  </a:txBody>
                  <a:tcPr anchor="ctr"/>
                </a:tc>
                <a:tc>
                  <a:txBody>
                    <a:bodyPr/>
                    <a:lstStyle/>
                    <a:p>
                      <a:pPr>
                        <a:buNone/>
                      </a:pPr>
                      <a:r>
                        <a:rPr lang="en-IN" dirty="0"/>
                        <a:t>AI Agent Development</a:t>
                      </a:r>
                    </a:p>
                  </a:txBody>
                  <a:tcPr anchor="ctr"/>
                </a:tc>
                <a:extLst>
                  <a:ext uri="{0D108BD9-81ED-4DB2-BD59-A6C34878D82A}">
                    <a16:rowId xmlns:a16="http://schemas.microsoft.com/office/drawing/2014/main" val="3519068325"/>
                  </a:ext>
                </a:extLst>
              </a:tr>
              <a:tr h="0">
                <a:tc>
                  <a:txBody>
                    <a:bodyPr/>
                    <a:lstStyle/>
                    <a:p>
                      <a:pPr>
                        <a:buNone/>
                      </a:pPr>
                      <a:r>
                        <a:rPr lang="en-IN"/>
                        <a:t>GPT Foundation Model</a:t>
                      </a:r>
                    </a:p>
                  </a:txBody>
                  <a:tcPr anchor="ctr"/>
                </a:tc>
                <a:tc>
                  <a:txBody>
                    <a:bodyPr/>
                    <a:lstStyle/>
                    <a:p>
                      <a:pPr>
                        <a:buNone/>
                      </a:pPr>
                      <a:r>
                        <a:rPr lang="en-IN"/>
                        <a:t>Natural Language Processing</a:t>
                      </a:r>
                    </a:p>
                  </a:txBody>
                  <a:tcPr anchor="ctr"/>
                </a:tc>
                <a:extLst>
                  <a:ext uri="{0D108BD9-81ED-4DB2-BD59-A6C34878D82A}">
                    <a16:rowId xmlns:a16="http://schemas.microsoft.com/office/drawing/2014/main" val="3951507749"/>
                  </a:ext>
                </a:extLst>
              </a:tr>
              <a:tr h="0">
                <a:tc>
                  <a:txBody>
                    <a:bodyPr/>
                    <a:lstStyle/>
                    <a:p>
                      <a:pPr>
                        <a:buNone/>
                      </a:pPr>
                      <a:r>
                        <a:rPr lang="en-IN" dirty="0"/>
                        <a:t>Knowledge Base</a:t>
                      </a:r>
                    </a:p>
                  </a:txBody>
                  <a:tcPr anchor="ctr"/>
                </a:tc>
                <a:tc>
                  <a:txBody>
                    <a:bodyPr/>
                    <a:lstStyle/>
                    <a:p>
                      <a:pPr>
                        <a:buNone/>
                      </a:pPr>
                      <a:r>
                        <a:rPr lang="en-IN" dirty="0"/>
                        <a:t>Agricultural Information</a:t>
                      </a:r>
                    </a:p>
                  </a:txBody>
                  <a:tcPr anchor="ctr"/>
                </a:tc>
                <a:extLst>
                  <a:ext uri="{0D108BD9-81ED-4DB2-BD59-A6C34878D82A}">
                    <a16:rowId xmlns:a16="http://schemas.microsoft.com/office/drawing/2014/main" val="2822599059"/>
                  </a:ext>
                </a:extLst>
              </a:tr>
              <a:tr h="0">
                <a:tc>
                  <a:txBody>
                    <a:bodyPr/>
                    <a:lstStyle/>
                    <a:p>
                      <a:pPr>
                        <a:buNone/>
                      </a:pPr>
                      <a:r>
                        <a:rPr lang="en-IN" dirty="0"/>
                        <a:t>AI Agent Builder</a:t>
                      </a:r>
                    </a:p>
                  </a:txBody>
                  <a:tcPr anchor="ctr"/>
                </a:tc>
                <a:tc>
                  <a:txBody>
                    <a:bodyPr/>
                    <a:lstStyle/>
                    <a:p>
                      <a:pPr>
                        <a:buNone/>
                      </a:pPr>
                      <a:r>
                        <a:rPr lang="en-IN" dirty="0"/>
                        <a:t>Agent Configuration</a:t>
                      </a:r>
                    </a:p>
                  </a:txBody>
                  <a:tcPr anchor="ctr"/>
                </a:tc>
                <a:extLst>
                  <a:ext uri="{0D108BD9-81ED-4DB2-BD59-A6C34878D82A}">
                    <a16:rowId xmlns:a16="http://schemas.microsoft.com/office/drawing/2014/main" val="403094758"/>
                  </a:ext>
                </a:extLst>
              </a:tr>
            </a:tbl>
          </a:graphicData>
        </a:graphic>
      </p:graphicFrame>
    </p:spTree>
    <p:extLst>
      <p:ext uri="{BB962C8B-B14F-4D97-AF65-F5344CB8AC3E}">
        <p14:creationId xmlns:p14="http://schemas.microsoft.com/office/powerpoint/2010/main" val="1581717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45BF-A405-8036-8A1E-F2A5C45BDE9D}"/>
              </a:ext>
            </a:extLst>
          </p:cNvPr>
          <p:cNvSpPr>
            <a:spLocks noGrp="1"/>
          </p:cNvSpPr>
          <p:nvPr>
            <p:ph type="title"/>
          </p:nvPr>
        </p:nvSpPr>
        <p:spPr>
          <a:xfrm>
            <a:off x="3412379" y="916518"/>
            <a:ext cx="4645771" cy="706964"/>
          </a:xfrm>
        </p:spPr>
        <p:txBody>
          <a:bodyPr/>
          <a:lstStyle/>
          <a:p>
            <a:r>
              <a:rPr lang="en-IN" dirty="0"/>
              <a:t>System Architecture</a:t>
            </a:r>
          </a:p>
        </p:txBody>
      </p:sp>
      <p:pic>
        <p:nvPicPr>
          <p:cNvPr id="4" name="Picture 3">
            <a:extLst>
              <a:ext uri="{FF2B5EF4-FFF2-40B4-BE49-F238E27FC236}">
                <a16:creationId xmlns:a16="http://schemas.microsoft.com/office/drawing/2014/main" id="{02BEB75A-8B80-B82A-124C-5A65F3C119B4}"/>
              </a:ext>
            </a:extLst>
          </p:cNvPr>
          <p:cNvPicPr>
            <a:picLocks noChangeAspect="1"/>
          </p:cNvPicPr>
          <p:nvPr/>
        </p:nvPicPr>
        <p:blipFill>
          <a:blip r:embed="rId2"/>
          <a:stretch>
            <a:fillRect/>
          </a:stretch>
        </p:blipFill>
        <p:spPr>
          <a:xfrm>
            <a:off x="3738689" y="2409824"/>
            <a:ext cx="4714622" cy="4295775"/>
          </a:xfrm>
          <a:prstGeom prst="rect">
            <a:avLst/>
          </a:prstGeom>
        </p:spPr>
      </p:pic>
    </p:spTree>
    <p:extLst>
      <p:ext uri="{BB962C8B-B14F-4D97-AF65-F5344CB8AC3E}">
        <p14:creationId xmlns:p14="http://schemas.microsoft.com/office/powerpoint/2010/main" val="3303704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68DF-1FC1-E915-ED2E-15CCEA1F0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9FC83-488E-4882-1911-3C52F4D75D19}"/>
              </a:ext>
            </a:extLst>
          </p:cNvPr>
          <p:cNvSpPr>
            <a:spLocks noGrp="1"/>
          </p:cNvSpPr>
          <p:nvPr>
            <p:ph type="title"/>
          </p:nvPr>
        </p:nvSpPr>
        <p:spPr>
          <a:xfrm>
            <a:off x="4717304" y="838200"/>
            <a:ext cx="2455021" cy="706964"/>
          </a:xfrm>
        </p:spPr>
        <p:txBody>
          <a:bodyPr/>
          <a:lstStyle/>
          <a:p>
            <a:r>
              <a:rPr lang="en-IN" dirty="0"/>
              <a:t>Workflow</a:t>
            </a:r>
          </a:p>
        </p:txBody>
      </p:sp>
      <p:sp>
        <p:nvSpPr>
          <p:cNvPr id="3" name="Content Placeholder 2">
            <a:extLst>
              <a:ext uri="{FF2B5EF4-FFF2-40B4-BE49-F238E27FC236}">
                <a16:creationId xmlns:a16="http://schemas.microsoft.com/office/drawing/2014/main" id="{74E7EDB2-3616-8D16-8FAD-CA8EBFF31C4A}"/>
              </a:ext>
            </a:extLst>
          </p:cNvPr>
          <p:cNvSpPr>
            <a:spLocks noGrp="1"/>
          </p:cNvSpPr>
          <p:nvPr>
            <p:ph idx="1"/>
          </p:nvPr>
        </p:nvSpPr>
        <p:spPr>
          <a:xfrm>
            <a:off x="4193429" y="2736850"/>
            <a:ext cx="4150471" cy="3416300"/>
          </a:xfrm>
        </p:spPr>
        <p:txBody>
          <a:bodyPr>
            <a:normAutofit fontScale="62500" lnSpcReduction="20000"/>
          </a:bodyPr>
          <a:lstStyle/>
          <a:p>
            <a:r>
              <a:rPr lang="en-IN" dirty="0"/>
              <a:t>Farmer</a:t>
            </a:r>
          </a:p>
          <a:p>
            <a:r>
              <a:rPr lang="en-IN" dirty="0"/>
              <a:t>   ↓</a:t>
            </a:r>
          </a:p>
          <a:p>
            <a:r>
              <a:rPr lang="en-IN" dirty="0"/>
              <a:t>Smart Farming Advisor</a:t>
            </a:r>
          </a:p>
          <a:p>
            <a:r>
              <a:rPr lang="en-IN" dirty="0"/>
              <a:t>   ↓</a:t>
            </a:r>
          </a:p>
          <a:p>
            <a:r>
              <a:rPr lang="en-IN" dirty="0"/>
              <a:t>Collect Farming Query</a:t>
            </a:r>
          </a:p>
          <a:p>
            <a:r>
              <a:rPr lang="en-IN" dirty="0"/>
              <a:t>   ↓</a:t>
            </a:r>
          </a:p>
          <a:p>
            <a:r>
              <a:rPr lang="en-IN" dirty="0"/>
              <a:t>Knowledge Base</a:t>
            </a:r>
          </a:p>
          <a:p>
            <a:r>
              <a:rPr lang="en-IN" dirty="0"/>
              <a:t>   ↓</a:t>
            </a:r>
          </a:p>
          <a:p>
            <a:r>
              <a:rPr lang="en-IN" dirty="0"/>
              <a:t>IBM Foundation Model</a:t>
            </a:r>
          </a:p>
          <a:p>
            <a:r>
              <a:rPr lang="en-IN" dirty="0"/>
              <a:t>   ↓</a:t>
            </a:r>
          </a:p>
          <a:p>
            <a:r>
              <a:rPr lang="en-IN" dirty="0"/>
              <a:t>Personalized Recommendation</a:t>
            </a:r>
          </a:p>
          <a:p>
            <a:r>
              <a:rPr lang="en-IN" dirty="0"/>
              <a:t>   ↓</a:t>
            </a:r>
          </a:p>
          <a:p>
            <a:r>
              <a:rPr lang="en-IN" dirty="0"/>
              <a:t>Farmer</a:t>
            </a:r>
          </a:p>
        </p:txBody>
      </p:sp>
    </p:spTree>
    <p:extLst>
      <p:ext uri="{BB962C8B-B14F-4D97-AF65-F5344CB8AC3E}">
        <p14:creationId xmlns:p14="http://schemas.microsoft.com/office/powerpoint/2010/main" val="387368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5B09-34F3-0892-42EE-EC4DA3CE6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55B05-F66B-E727-3BCB-74A641946210}"/>
              </a:ext>
            </a:extLst>
          </p:cNvPr>
          <p:cNvSpPr>
            <a:spLocks noGrp="1"/>
          </p:cNvSpPr>
          <p:nvPr>
            <p:ph type="title"/>
          </p:nvPr>
        </p:nvSpPr>
        <p:spPr>
          <a:xfrm>
            <a:off x="3483022" y="838200"/>
            <a:ext cx="4169521" cy="706964"/>
          </a:xfrm>
        </p:spPr>
        <p:txBody>
          <a:bodyPr/>
          <a:lstStyle/>
          <a:p>
            <a:r>
              <a:rPr lang="en-IN" dirty="0"/>
              <a:t>Knowledge Base</a:t>
            </a:r>
          </a:p>
        </p:txBody>
      </p:sp>
      <p:sp>
        <p:nvSpPr>
          <p:cNvPr id="3" name="Content Placeholder 2">
            <a:extLst>
              <a:ext uri="{FF2B5EF4-FFF2-40B4-BE49-F238E27FC236}">
                <a16:creationId xmlns:a16="http://schemas.microsoft.com/office/drawing/2014/main" id="{DB9AD97F-9B10-37BF-2DFB-BB1F4AFC393C}"/>
              </a:ext>
            </a:extLst>
          </p:cNvPr>
          <p:cNvSpPr>
            <a:spLocks noGrp="1"/>
          </p:cNvSpPr>
          <p:nvPr>
            <p:ph idx="1"/>
          </p:nvPr>
        </p:nvSpPr>
        <p:spPr>
          <a:xfrm>
            <a:off x="583454" y="3057524"/>
            <a:ext cx="6569821" cy="3286125"/>
          </a:xfrm>
        </p:spPr>
        <p:txBody>
          <a:bodyPr/>
          <a:lstStyle/>
          <a:p>
            <a:r>
              <a:rPr lang="en-IN" dirty="0"/>
              <a:t>Uploaded agricultural knowledge documents:</a:t>
            </a:r>
          </a:p>
          <a:p>
            <a:r>
              <a:rPr lang="en-IN" dirty="0"/>
              <a:t>Crop Selection Guide </a:t>
            </a:r>
          </a:p>
          <a:p>
            <a:r>
              <a:rPr lang="en-IN" dirty="0"/>
              <a:t>Fertilizer Guide </a:t>
            </a:r>
          </a:p>
          <a:p>
            <a:r>
              <a:rPr lang="en-IN" dirty="0"/>
              <a:t>Pest &amp; Disease Management Guide </a:t>
            </a:r>
          </a:p>
          <a:p>
            <a:r>
              <a:rPr lang="en-IN" dirty="0"/>
              <a:t>Irrigation &amp; Sustainable Farming Guide</a:t>
            </a:r>
          </a:p>
          <a:p>
            <a:pPr marL="0" indent="0">
              <a:buNone/>
            </a:pPr>
            <a:endParaRPr lang="en-IN" dirty="0"/>
          </a:p>
        </p:txBody>
      </p:sp>
      <p:pic>
        <p:nvPicPr>
          <p:cNvPr id="6" name="Picture 5">
            <a:extLst>
              <a:ext uri="{FF2B5EF4-FFF2-40B4-BE49-F238E27FC236}">
                <a16:creationId xmlns:a16="http://schemas.microsoft.com/office/drawing/2014/main" id="{864244E0-5EE7-0B8B-04DB-56594359522F}"/>
              </a:ext>
            </a:extLst>
          </p:cNvPr>
          <p:cNvPicPr>
            <a:picLocks noChangeAspect="1"/>
          </p:cNvPicPr>
          <p:nvPr/>
        </p:nvPicPr>
        <p:blipFill>
          <a:blip r:embed="rId2"/>
          <a:stretch>
            <a:fillRect/>
          </a:stretch>
        </p:blipFill>
        <p:spPr>
          <a:xfrm>
            <a:off x="6477482" y="2743014"/>
            <a:ext cx="5131064" cy="3600635"/>
          </a:xfrm>
          <a:prstGeom prst="rect">
            <a:avLst/>
          </a:prstGeom>
        </p:spPr>
      </p:pic>
    </p:spTree>
    <p:extLst>
      <p:ext uri="{BB962C8B-B14F-4D97-AF65-F5344CB8AC3E}">
        <p14:creationId xmlns:p14="http://schemas.microsoft.com/office/powerpoint/2010/main" val="25748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1AF57-7410-B961-93DB-44E5D5167BF4}"/>
              </a:ext>
            </a:extLst>
          </p:cNvPr>
          <p:cNvSpPr>
            <a:spLocks noGrp="1"/>
          </p:cNvSpPr>
          <p:nvPr>
            <p:ph type="title"/>
          </p:nvPr>
        </p:nvSpPr>
        <p:spPr>
          <a:xfrm>
            <a:off x="3625477" y="868893"/>
            <a:ext cx="4941046" cy="706964"/>
          </a:xfrm>
        </p:spPr>
        <p:txBody>
          <a:bodyPr/>
          <a:lstStyle/>
          <a:p>
            <a:r>
              <a:rPr lang="en-IN" dirty="0"/>
              <a:t>Agent Configuration</a:t>
            </a:r>
          </a:p>
        </p:txBody>
      </p:sp>
      <p:pic>
        <p:nvPicPr>
          <p:cNvPr id="5" name="Picture 4">
            <a:extLst>
              <a:ext uri="{FF2B5EF4-FFF2-40B4-BE49-F238E27FC236}">
                <a16:creationId xmlns:a16="http://schemas.microsoft.com/office/drawing/2014/main" id="{3DC5D540-C818-F336-B6F0-5E638EB4A3C8}"/>
              </a:ext>
            </a:extLst>
          </p:cNvPr>
          <p:cNvPicPr>
            <a:picLocks noChangeAspect="1"/>
          </p:cNvPicPr>
          <p:nvPr/>
        </p:nvPicPr>
        <p:blipFill>
          <a:blip r:embed="rId2"/>
          <a:stretch>
            <a:fillRect/>
          </a:stretch>
        </p:blipFill>
        <p:spPr>
          <a:xfrm>
            <a:off x="533269" y="2360156"/>
            <a:ext cx="5181859" cy="2126073"/>
          </a:xfrm>
          <a:prstGeom prst="rect">
            <a:avLst/>
          </a:prstGeom>
        </p:spPr>
      </p:pic>
      <p:pic>
        <p:nvPicPr>
          <p:cNvPr id="8" name="Picture 7">
            <a:extLst>
              <a:ext uri="{FF2B5EF4-FFF2-40B4-BE49-F238E27FC236}">
                <a16:creationId xmlns:a16="http://schemas.microsoft.com/office/drawing/2014/main" id="{1140D2B4-5E2D-99A7-579E-B214B73E48DD}"/>
              </a:ext>
            </a:extLst>
          </p:cNvPr>
          <p:cNvPicPr>
            <a:picLocks noChangeAspect="1"/>
          </p:cNvPicPr>
          <p:nvPr/>
        </p:nvPicPr>
        <p:blipFill>
          <a:blip r:embed="rId3"/>
          <a:stretch>
            <a:fillRect/>
          </a:stretch>
        </p:blipFill>
        <p:spPr>
          <a:xfrm>
            <a:off x="6381622" y="2609708"/>
            <a:ext cx="4972306" cy="3753043"/>
          </a:xfrm>
          <a:prstGeom prst="rect">
            <a:avLst/>
          </a:prstGeom>
        </p:spPr>
      </p:pic>
      <p:pic>
        <p:nvPicPr>
          <p:cNvPr id="10" name="Picture 9">
            <a:extLst>
              <a:ext uri="{FF2B5EF4-FFF2-40B4-BE49-F238E27FC236}">
                <a16:creationId xmlns:a16="http://schemas.microsoft.com/office/drawing/2014/main" id="{50E5BD14-F896-B3D5-DA9D-76AA2AA38368}"/>
              </a:ext>
            </a:extLst>
          </p:cNvPr>
          <p:cNvPicPr>
            <a:picLocks noChangeAspect="1"/>
          </p:cNvPicPr>
          <p:nvPr/>
        </p:nvPicPr>
        <p:blipFill>
          <a:blip r:embed="rId4"/>
          <a:stretch>
            <a:fillRect/>
          </a:stretch>
        </p:blipFill>
        <p:spPr>
          <a:xfrm>
            <a:off x="335301" y="4657724"/>
            <a:ext cx="5506825" cy="2035253"/>
          </a:xfrm>
          <a:prstGeom prst="rect">
            <a:avLst/>
          </a:prstGeom>
        </p:spPr>
      </p:pic>
    </p:spTree>
    <p:extLst>
      <p:ext uri="{BB962C8B-B14F-4D97-AF65-F5344CB8AC3E}">
        <p14:creationId xmlns:p14="http://schemas.microsoft.com/office/powerpoint/2010/main" val="3200835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7EC56-1D10-4089-EAA6-FA0700230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04B0F-6C9D-79FC-A5A1-12027A7988AC}"/>
              </a:ext>
            </a:extLst>
          </p:cNvPr>
          <p:cNvSpPr>
            <a:spLocks noGrp="1"/>
          </p:cNvSpPr>
          <p:nvPr>
            <p:ph type="title"/>
          </p:nvPr>
        </p:nvSpPr>
        <p:spPr>
          <a:xfrm>
            <a:off x="4641104" y="1030818"/>
            <a:ext cx="1826371" cy="706964"/>
          </a:xfrm>
        </p:spPr>
        <p:txBody>
          <a:bodyPr/>
          <a:lstStyle/>
          <a:p>
            <a:r>
              <a:rPr lang="en-IN" dirty="0"/>
              <a:t>Testing</a:t>
            </a:r>
          </a:p>
        </p:txBody>
      </p:sp>
      <p:pic>
        <p:nvPicPr>
          <p:cNvPr id="4" name="Picture 3">
            <a:extLst>
              <a:ext uri="{FF2B5EF4-FFF2-40B4-BE49-F238E27FC236}">
                <a16:creationId xmlns:a16="http://schemas.microsoft.com/office/drawing/2014/main" id="{847713BD-C324-06B8-5C77-91A859091C21}"/>
              </a:ext>
            </a:extLst>
          </p:cNvPr>
          <p:cNvPicPr>
            <a:picLocks noChangeAspect="1"/>
          </p:cNvPicPr>
          <p:nvPr/>
        </p:nvPicPr>
        <p:blipFill>
          <a:blip r:embed="rId2"/>
          <a:stretch>
            <a:fillRect/>
          </a:stretch>
        </p:blipFill>
        <p:spPr>
          <a:xfrm>
            <a:off x="873002" y="2654212"/>
            <a:ext cx="4788146" cy="3416476"/>
          </a:xfrm>
          <a:prstGeom prst="rect">
            <a:avLst/>
          </a:prstGeom>
        </p:spPr>
      </p:pic>
      <p:pic>
        <p:nvPicPr>
          <p:cNvPr id="6" name="Picture 5">
            <a:extLst>
              <a:ext uri="{FF2B5EF4-FFF2-40B4-BE49-F238E27FC236}">
                <a16:creationId xmlns:a16="http://schemas.microsoft.com/office/drawing/2014/main" id="{B863B184-6410-A8A0-7116-E7553CFF69FF}"/>
              </a:ext>
            </a:extLst>
          </p:cNvPr>
          <p:cNvPicPr>
            <a:picLocks noChangeAspect="1"/>
          </p:cNvPicPr>
          <p:nvPr/>
        </p:nvPicPr>
        <p:blipFill>
          <a:blip r:embed="rId3"/>
          <a:stretch>
            <a:fillRect/>
          </a:stretch>
        </p:blipFill>
        <p:spPr>
          <a:xfrm>
            <a:off x="6349880" y="2482743"/>
            <a:ext cx="4673840" cy="4140413"/>
          </a:xfrm>
          <a:prstGeom prst="rect">
            <a:avLst/>
          </a:prstGeom>
        </p:spPr>
      </p:pic>
    </p:spTree>
    <p:extLst>
      <p:ext uri="{BB962C8B-B14F-4D97-AF65-F5344CB8AC3E}">
        <p14:creationId xmlns:p14="http://schemas.microsoft.com/office/powerpoint/2010/main" val="2673555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E038-F57A-28C8-0A01-3F3354FA6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4C39-90FB-021E-F823-FBB358324371}"/>
              </a:ext>
            </a:extLst>
          </p:cNvPr>
          <p:cNvSpPr>
            <a:spLocks noGrp="1"/>
          </p:cNvSpPr>
          <p:nvPr>
            <p:ph type="title"/>
          </p:nvPr>
        </p:nvSpPr>
        <p:spPr>
          <a:xfrm>
            <a:off x="4984005" y="916518"/>
            <a:ext cx="1740646" cy="706964"/>
          </a:xfrm>
        </p:spPr>
        <p:txBody>
          <a:bodyPr/>
          <a:lstStyle/>
          <a:p>
            <a:r>
              <a:rPr lang="en-IN" dirty="0"/>
              <a:t>Results</a:t>
            </a:r>
          </a:p>
        </p:txBody>
      </p:sp>
      <p:pic>
        <p:nvPicPr>
          <p:cNvPr id="5" name="Picture 4">
            <a:extLst>
              <a:ext uri="{FF2B5EF4-FFF2-40B4-BE49-F238E27FC236}">
                <a16:creationId xmlns:a16="http://schemas.microsoft.com/office/drawing/2014/main" id="{CA5A5BF5-C9A5-2C65-4AAD-58E71235463B}"/>
              </a:ext>
            </a:extLst>
          </p:cNvPr>
          <p:cNvPicPr>
            <a:picLocks noChangeAspect="1"/>
          </p:cNvPicPr>
          <p:nvPr/>
        </p:nvPicPr>
        <p:blipFill>
          <a:blip r:embed="rId2"/>
          <a:stretch>
            <a:fillRect/>
          </a:stretch>
        </p:blipFill>
        <p:spPr>
          <a:xfrm>
            <a:off x="2129522" y="2651267"/>
            <a:ext cx="7709213" cy="3816362"/>
          </a:xfrm>
          <a:prstGeom prst="rect">
            <a:avLst/>
          </a:prstGeom>
        </p:spPr>
      </p:pic>
    </p:spTree>
    <p:extLst>
      <p:ext uri="{BB962C8B-B14F-4D97-AF65-F5344CB8AC3E}">
        <p14:creationId xmlns:p14="http://schemas.microsoft.com/office/powerpoint/2010/main" val="983995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41D7F-33BB-6D11-4CB7-56974AE29D5E}"/>
              </a:ext>
            </a:extLst>
          </p:cNvPr>
          <p:cNvSpPr>
            <a:spLocks noGrp="1"/>
          </p:cNvSpPr>
          <p:nvPr>
            <p:ph type="title"/>
          </p:nvPr>
        </p:nvSpPr>
        <p:spPr>
          <a:xfrm>
            <a:off x="3379810" y="933450"/>
            <a:ext cx="5432378" cy="706964"/>
          </a:xfrm>
        </p:spPr>
        <p:txBody>
          <a:bodyPr/>
          <a:lstStyle/>
          <a:p>
            <a:r>
              <a:rPr lang="en-IN" dirty="0"/>
              <a:t>Novelty &amp; Uniqueness</a:t>
            </a:r>
          </a:p>
        </p:txBody>
      </p:sp>
      <p:sp>
        <p:nvSpPr>
          <p:cNvPr id="3" name="Content Placeholder 2">
            <a:extLst>
              <a:ext uri="{FF2B5EF4-FFF2-40B4-BE49-F238E27FC236}">
                <a16:creationId xmlns:a16="http://schemas.microsoft.com/office/drawing/2014/main" id="{0D533C19-AF21-58E1-2B1D-D78151E27AD3}"/>
              </a:ext>
            </a:extLst>
          </p:cNvPr>
          <p:cNvSpPr>
            <a:spLocks noGrp="1"/>
          </p:cNvSpPr>
          <p:nvPr>
            <p:ph idx="1"/>
          </p:nvPr>
        </p:nvSpPr>
        <p:spPr>
          <a:xfrm>
            <a:off x="2208422" y="3367614"/>
            <a:ext cx="7775155" cy="1120775"/>
          </a:xfrm>
        </p:spPr>
        <p:txBody>
          <a:bodyPr>
            <a:normAutofit lnSpcReduction="10000"/>
          </a:bodyPr>
          <a:lstStyle/>
          <a:p>
            <a:pPr marL="0" indent="0">
              <a:buNone/>
            </a:pPr>
            <a:r>
              <a:rPr lang="en-IN" dirty="0"/>
              <a:t>AI-powered agricultural assistant. Knowledge-based recommendations. Personalized farming guidance. Easy conversational interface. Sustainable farming focus. Scalable IBM </a:t>
            </a:r>
            <a:r>
              <a:rPr lang="en-IN" dirty="0" err="1"/>
              <a:t>watsonx</a:t>
            </a:r>
            <a:r>
              <a:rPr lang="en-IN" dirty="0"/>
              <a:t> Orchestrate solution.</a:t>
            </a:r>
          </a:p>
        </p:txBody>
      </p:sp>
    </p:spTree>
    <p:extLst>
      <p:ext uri="{BB962C8B-B14F-4D97-AF65-F5344CB8AC3E}">
        <p14:creationId xmlns:p14="http://schemas.microsoft.com/office/powerpoint/2010/main" val="176892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11E5-46AB-FFC2-BD3B-15CAE487128E}"/>
              </a:ext>
            </a:extLst>
          </p:cNvPr>
          <p:cNvSpPr>
            <a:spLocks noGrp="1"/>
          </p:cNvSpPr>
          <p:nvPr>
            <p:ph type="title"/>
          </p:nvPr>
        </p:nvSpPr>
        <p:spPr>
          <a:xfrm>
            <a:off x="3821954" y="742950"/>
            <a:ext cx="3178921" cy="1257300"/>
          </a:xfrm>
        </p:spPr>
        <p:txBody>
          <a:bodyPr/>
          <a:lstStyle/>
          <a:p>
            <a:r>
              <a:rPr lang="en-IN" b="1" dirty="0"/>
              <a:t>Future Scope</a:t>
            </a:r>
            <a:br>
              <a:rPr lang="en-IN" b="1" dirty="0"/>
            </a:br>
            <a:endParaRPr lang="en-IN" dirty="0"/>
          </a:p>
        </p:txBody>
      </p:sp>
      <p:sp>
        <p:nvSpPr>
          <p:cNvPr id="3" name="Content Placeholder 2">
            <a:extLst>
              <a:ext uri="{FF2B5EF4-FFF2-40B4-BE49-F238E27FC236}">
                <a16:creationId xmlns:a16="http://schemas.microsoft.com/office/drawing/2014/main" id="{01D18FE9-93AA-EAEF-E70F-78100CE7C8AD}"/>
              </a:ext>
            </a:extLst>
          </p:cNvPr>
          <p:cNvSpPr>
            <a:spLocks noGrp="1"/>
          </p:cNvSpPr>
          <p:nvPr>
            <p:ph idx="1"/>
          </p:nvPr>
        </p:nvSpPr>
        <p:spPr>
          <a:xfrm>
            <a:off x="1574054" y="2622550"/>
            <a:ext cx="8825659" cy="3416300"/>
          </a:xfrm>
        </p:spPr>
        <p:txBody>
          <a:bodyPr/>
          <a:lstStyle/>
          <a:p>
            <a:r>
              <a:rPr lang="en-IN" dirty="0"/>
              <a:t>Weather API integration. </a:t>
            </a:r>
          </a:p>
          <a:p>
            <a:r>
              <a:rPr lang="en-IN" dirty="0"/>
              <a:t>Satellite image analysis. </a:t>
            </a:r>
          </a:p>
          <a:p>
            <a:r>
              <a:rPr lang="en-IN" dirty="0"/>
              <a:t>IoT sensor connectivity. </a:t>
            </a:r>
          </a:p>
          <a:p>
            <a:r>
              <a:rPr lang="en-IN" dirty="0"/>
              <a:t>Mobile application. </a:t>
            </a:r>
          </a:p>
          <a:p>
            <a:r>
              <a:rPr lang="en-IN" dirty="0"/>
              <a:t>Regional language support. </a:t>
            </a:r>
          </a:p>
          <a:p>
            <a:r>
              <a:rPr lang="en-IN" dirty="0"/>
              <a:t>AI-based crop disease detection from images. </a:t>
            </a:r>
          </a:p>
          <a:p>
            <a:pPr marL="0" indent="0">
              <a:buNone/>
            </a:pPr>
            <a:endParaRPr lang="en-IN" dirty="0"/>
          </a:p>
        </p:txBody>
      </p:sp>
    </p:spTree>
    <p:extLst>
      <p:ext uri="{BB962C8B-B14F-4D97-AF65-F5344CB8AC3E}">
        <p14:creationId xmlns:p14="http://schemas.microsoft.com/office/powerpoint/2010/main" val="3987153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1B68C-CAC6-FBBC-35B4-593A673BB6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96CCDD6-9DCD-39FF-5BE6-1C4EF7AE4CB8}"/>
              </a:ext>
            </a:extLst>
          </p:cNvPr>
          <p:cNvSpPr>
            <a:spLocks noGrp="1"/>
          </p:cNvSpPr>
          <p:nvPr>
            <p:ph type="title"/>
          </p:nvPr>
        </p:nvSpPr>
        <p:spPr>
          <a:xfrm>
            <a:off x="3355230" y="906993"/>
            <a:ext cx="4312396" cy="706964"/>
          </a:xfrm>
        </p:spPr>
        <p:txBody>
          <a:bodyPr/>
          <a:lstStyle/>
          <a:p>
            <a:r>
              <a:rPr lang="en-IN" dirty="0"/>
              <a:t>GitHub Repository</a:t>
            </a:r>
          </a:p>
        </p:txBody>
      </p:sp>
      <p:sp>
        <p:nvSpPr>
          <p:cNvPr id="6" name="TextBox 5">
            <a:extLst>
              <a:ext uri="{FF2B5EF4-FFF2-40B4-BE49-F238E27FC236}">
                <a16:creationId xmlns:a16="http://schemas.microsoft.com/office/drawing/2014/main" id="{695AFFB5-A580-6078-C8D5-C582B7F9B8EB}"/>
              </a:ext>
            </a:extLst>
          </p:cNvPr>
          <p:cNvSpPr txBox="1"/>
          <p:nvPr/>
        </p:nvSpPr>
        <p:spPr>
          <a:xfrm>
            <a:off x="1657350" y="2981325"/>
            <a:ext cx="7128875" cy="369332"/>
          </a:xfrm>
          <a:prstGeom prst="rect">
            <a:avLst/>
          </a:prstGeom>
          <a:noFill/>
        </p:spPr>
        <p:txBody>
          <a:bodyPr wrap="none" rtlCol="0">
            <a:spAutoFit/>
          </a:bodyPr>
          <a:lstStyle/>
          <a:p>
            <a:r>
              <a:rPr lang="en-IN" dirty="0"/>
              <a:t>https://github.com/Hema1806/IBM_Smart_Farming_Advisor.git</a:t>
            </a:r>
          </a:p>
        </p:txBody>
      </p:sp>
      <p:sp>
        <p:nvSpPr>
          <p:cNvPr id="7" name="TextBox 6">
            <a:extLst>
              <a:ext uri="{FF2B5EF4-FFF2-40B4-BE49-F238E27FC236}">
                <a16:creationId xmlns:a16="http://schemas.microsoft.com/office/drawing/2014/main" id="{692D60DD-B5B2-45B3-DE79-23DB63EF97C2}"/>
              </a:ext>
            </a:extLst>
          </p:cNvPr>
          <p:cNvSpPr txBox="1"/>
          <p:nvPr/>
        </p:nvSpPr>
        <p:spPr>
          <a:xfrm>
            <a:off x="1552575" y="3924301"/>
            <a:ext cx="3724391" cy="738664"/>
          </a:xfrm>
          <a:prstGeom prst="rect">
            <a:avLst/>
          </a:prstGeom>
          <a:noFill/>
        </p:spPr>
        <p:txBody>
          <a:bodyPr wrap="square" rtlCol="0">
            <a:spAutoFit/>
          </a:bodyPr>
          <a:lstStyle/>
          <a:p>
            <a:r>
              <a:rPr lang="en-IN" sz="2400" dirty="0"/>
              <a:t>Repository Name:</a:t>
            </a:r>
          </a:p>
          <a:p>
            <a:r>
              <a:rPr lang="en-IN" dirty="0" err="1"/>
              <a:t>IBM_Smart_Farming_Advisor</a:t>
            </a:r>
            <a:endParaRPr lang="en-IN" dirty="0"/>
          </a:p>
        </p:txBody>
      </p:sp>
    </p:spTree>
    <p:extLst>
      <p:ext uri="{BB962C8B-B14F-4D97-AF65-F5344CB8AC3E}">
        <p14:creationId xmlns:p14="http://schemas.microsoft.com/office/powerpoint/2010/main" val="761044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1FEFEF-8B43-023B-AE4E-773914ECFB40}"/>
              </a:ext>
            </a:extLst>
          </p:cNvPr>
          <p:cNvPicPr>
            <a:picLocks noChangeAspect="1"/>
          </p:cNvPicPr>
          <p:nvPr/>
        </p:nvPicPr>
        <p:blipFill>
          <a:blip r:embed="rId2"/>
          <a:stretch>
            <a:fillRect/>
          </a:stretch>
        </p:blipFill>
        <p:spPr>
          <a:xfrm>
            <a:off x="2752613" y="873038"/>
            <a:ext cx="6174720" cy="4727661"/>
          </a:xfrm>
          <a:prstGeom prst="rect">
            <a:avLst/>
          </a:prstGeom>
        </p:spPr>
      </p:pic>
    </p:spTree>
    <p:extLst>
      <p:ext uri="{BB962C8B-B14F-4D97-AF65-F5344CB8AC3E}">
        <p14:creationId xmlns:p14="http://schemas.microsoft.com/office/powerpoint/2010/main" val="2070963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BA8A6D-5545-A6F7-240E-17D8C2668EFD}"/>
              </a:ext>
            </a:extLst>
          </p:cNvPr>
          <p:cNvPicPr>
            <a:picLocks noChangeAspect="1"/>
          </p:cNvPicPr>
          <p:nvPr/>
        </p:nvPicPr>
        <p:blipFill>
          <a:blip r:embed="rId2"/>
          <a:stretch>
            <a:fillRect/>
          </a:stretch>
        </p:blipFill>
        <p:spPr>
          <a:xfrm>
            <a:off x="2885910" y="939672"/>
            <a:ext cx="6420180" cy="4978656"/>
          </a:xfrm>
          <a:prstGeom prst="rect">
            <a:avLst/>
          </a:prstGeom>
        </p:spPr>
      </p:pic>
    </p:spTree>
    <p:extLst>
      <p:ext uri="{BB962C8B-B14F-4D97-AF65-F5344CB8AC3E}">
        <p14:creationId xmlns:p14="http://schemas.microsoft.com/office/powerpoint/2010/main" val="2822344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DBC646-20AE-B1A9-26DC-4F87CE667F02}"/>
              </a:ext>
            </a:extLst>
          </p:cNvPr>
          <p:cNvPicPr>
            <a:picLocks noChangeAspect="1"/>
          </p:cNvPicPr>
          <p:nvPr/>
        </p:nvPicPr>
        <p:blipFill>
          <a:blip r:embed="rId2"/>
          <a:stretch>
            <a:fillRect/>
          </a:stretch>
        </p:blipFill>
        <p:spPr>
          <a:xfrm>
            <a:off x="2543175" y="1000780"/>
            <a:ext cx="6508887" cy="5066752"/>
          </a:xfrm>
          <a:prstGeom prst="rect">
            <a:avLst/>
          </a:prstGeom>
        </p:spPr>
      </p:pic>
    </p:spTree>
    <p:extLst>
      <p:ext uri="{BB962C8B-B14F-4D97-AF65-F5344CB8AC3E}">
        <p14:creationId xmlns:p14="http://schemas.microsoft.com/office/powerpoint/2010/main" val="218301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EC520F-A226-53F9-06A0-956F2C890435}"/>
              </a:ext>
            </a:extLst>
          </p:cNvPr>
          <p:cNvPicPr>
            <a:picLocks noChangeAspect="1"/>
          </p:cNvPicPr>
          <p:nvPr/>
        </p:nvPicPr>
        <p:blipFill>
          <a:blip r:embed="rId2"/>
          <a:stretch>
            <a:fillRect/>
          </a:stretch>
        </p:blipFill>
        <p:spPr>
          <a:xfrm>
            <a:off x="2524125" y="1122698"/>
            <a:ext cx="7356635" cy="5176615"/>
          </a:xfrm>
          <a:prstGeom prst="rect">
            <a:avLst/>
          </a:prstGeom>
        </p:spPr>
      </p:pic>
    </p:spTree>
    <p:extLst>
      <p:ext uri="{BB962C8B-B14F-4D97-AF65-F5344CB8AC3E}">
        <p14:creationId xmlns:p14="http://schemas.microsoft.com/office/powerpoint/2010/main" val="71031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98FE0-630E-8F8B-72ED-D7D09CA97BB6}"/>
              </a:ext>
            </a:extLst>
          </p:cNvPr>
          <p:cNvSpPr>
            <a:spLocks noGrp="1"/>
          </p:cNvSpPr>
          <p:nvPr>
            <p:ph type="title"/>
          </p:nvPr>
        </p:nvSpPr>
        <p:spPr>
          <a:xfrm>
            <a:off x="4097385" y="838200"/>
            <a:ext cx="2940796" cy="706964"/>
          </a:xfrm>
        </p:spPr>
        <p:txBody>
          <a:bodyPr/>
          <a:lstStyle/>
          <a:p>
            <a:r>
              <a:rPr lang="en-IN" dirty="0"/>
              <a:t>Conclusion</a:t>
            </a:r>
          </a:p>
        </p:txBody>
      </p:sp>
      <p:sp>
        <p:nvSpPr>
          <p:cNvPr id="3" name="Content Placeholder 2">
            <a:extLst>
              <a:ext uri="{FF2B5EF4-FFF2-40B4-BE49-F238E27FC236}">
                <a16:creationId xmlns:a16="http://schemas.microsoft.com/office/drawing/2014/main" id="{15B13317-87F7-83D7-04B2-1CFD852F7CBC}"/>
              </a:ext>
            </a:extLst>
          </p:cNvPr>
          <p:cNvSpPr>
            <a:spLocks noGrp="1"/>
          </p:cNvSpPr>
          <p:nvPr>
            <p:ph idx="1"/>
          </p:nvPr>
        </p:nvSpPr>
        <p:spPr>
          <a:xfrm>
            <a:off x="1755029" y="2832100"/>
            <a:ext cx="8825659" cy="3416300"/>
          </a:xfrm>
        </p:spPr>
        <p:txBody>
          <a:bodyPr/>
          <a:lstStyle/>
          <a:p>
            <a:r>
              <a:rPr lang="en-IN" dirty="0"/>
              <a:t>The Smart Farming Advisor demonstrates how IBM </a:t>
            </a:r>
            <a:r>
              <a:rPr lang="en-IN" dirty="0" err="1"/>
              <a:t>watsonx</a:t>
            </a:r>
            <a:r>
              <a:rPr lang="en-IN" dirty="0"/>
              <a:t> Orchestrate can be used to build an intelligent agricultural assistant. By integrating conversational AI with a curated farming knowledge base, the system provides practical recommendations for crop selection, fertilizer usage, irrigation planning, and sustainable farming. The project highlights the potential of AI to improve agricultural productivity and support informed decision-making.</a:t>
            </a:r>
          </a:p>
        </p:txBody>
      </p:sp>
    </p:spTree>
    <p:extLst>
      <p:ext uri="{BB962C8B-B14F-4D97-AF65-F5344CB8AC3E}">
        <p14:creationId xmlns:p14="http://schemas.microsoft.com/office/powerpoint/2010/main" val="66390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862134-F327-C579-BF9C-9F5134DC5044}"/>
              </a:ext>
            </a:extLst>
          </p:cNvPr>
          <p:cNvSpPr txBox="1"/>
          <p:nvPr/>
        </p:nvSpPr>
        <p:spPr>
          <a:xfrm>
            <a:off x="4086225" y="2200275"/>
            <a:ext cx="4019550" cy="1415772"/>
          </a:xfrm>
          <a:prstGeom prst="rect">
            <a:avLst/>
          </a:prstGeom>
          <a:noFill/>
        </p:spPr>
        <p:txBody>
          <a:bodyPr wrap="square" rtlCol="0">
            <a:spAutoFit/>
          </a:bodyPr>
          <a:lstStyle/>
          <a:p>
            <a:r>
              <a:rPr lang="en-IN" sz="5000" b="1" dirty="0"/>
              <a:t>Thank You</a:t>
            </a:r>
            <a:endParaRPr lang="en-IN" sz="5000" dirty="0"/>
          </a:p>
          <a:p>
            <a:r>
              <a:rPr lang="en-IN" b="1" dirty="0"/>
              <a:t>Questions &amp; Answers</a:t>
            </a:r>
            <a:endParaRPr lang="en-IN" dirty="0"/>
          </a:p>
          <a:p>
            <a:endParaRPr lang="en-IN" dirty="0"/>
          </a:p>
        </p:txBody>
      </p:sp>
    </p:spTree>
    <p:extLst>
      <p:ext uri="{BB962C8B-B14F-4D97-AF65-F5344CB8AC3E}">
        <p14:creationId xmlns:p14="http://schemas.microsoft.com/office/powerpoint/2010/main" val="330346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{3D485F7A-863F-4837-B6D7-350D591769C6}TF229edf6a-8a49-49ee-a0a6-5037052947485fb3ca0c-bc27bf41d645</Template>
  <TotalTime>123</TotalTime>
  <Words>440</Words>
  <Application>Microsoft Office PowerPoint</Application>
  <PresentationFormat>Widescreen</PresentationFormat>
  <Paragraphs>79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Century Gothic</vt:lpstr>
      <vt:lpstr>Wingdings 3</vt:lpstr>
      <vt:lpstr>Ion Boardroom</vt:lpstr>
      <vt:lpstr>AI-Powered Smart Farming Advisor using IBM watsonx Orchestrate   IBM SkillsBuild – University Engagement Program </vt:lpstr>
      <vt:lpstr>Introduction</vt:lpstr>
      <vt:lpstr>Problem Statement</vt:lpstr>
      <vt:lpstr>Objectives</vt:lpstr>
      <vt:lpstr>Proposed Solution</vt:lpstr>
      <vt:lpstr>Technologies Used</vt:lpstr>
      <vt:lpstr>System Architecture</vt:lpstr>
      <vt:lpstr>Workflow</vt:lpstr>
      <vt:lpstr>Knowledge Base</vt:lpstr>
      <vt:lpstr>Agent Configuration</vt:lpstr>
      <vt:lpstr>Testing</vt:lpstr>
      <vt:lpstr>Results</vt:lpstr>
      <vt:lpstr>Novelty &amp; Uniqueness</vt:lpstr>
      <vt:lpstr>Future Scope </vt:lpstr>
      <vt:lpstr>GitHub Repository</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 sri</dc:creator>
  <cp:lastModifiedBy>hema sri</cp:lastModifiedBy>
  <cp:revision>2</cp:revision>
  <dcterms:created xsi:type="dcterms:W3CDTF">2026-07-13T15:41:09Z</dcterms:created>
  <dcterms:modified xsi:type="dcterms:W3CDTF">2026-07-13T18:14:59Z</dcterms:modified>
</cp:coreProperties>
</file>